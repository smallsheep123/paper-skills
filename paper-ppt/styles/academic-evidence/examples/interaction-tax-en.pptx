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Same-model</c:v>
                </c:pt>
              </c:strCache>
            </c:strRef>
          </c:tx>
          <c:spPr>
            <a:solidFill>
              <a:srgbClr val="265F8B"/>
            </a:solidFill>
            <a:ln w="31750" cap="flat">
              <a:solidFill>
                <a:srgbClr val="265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65F8B"/>
              </a:solidFill>
              <a:ln w="9525" cap="flat">
                <a:solidFill>
                  <a:srgbClr val="265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436</c:v>
                </c:pt>
                <c:pt idx="1">
                  <c:v>132</c:v>
                </c:pt>
                <c:pt idx="2">
                  <c:v>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Diverse-model</c:v>
                </c:pt>
              </c:strCache>
            </c:strRef>
          </c:tx>
          <c:spPr>
            <a:solidFill>
              <a:srgbClr val="BD3C31"/>
            </a:solidFill>
            <a:ln w="31750" cap="flat">
              <a:solidFill>
                <a:srgbClr val="BD3C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D3C31"/>
              </a:solidFill>
              <a:ln w="9525" cap="flat">
                <a:solidFill>
                  <a:srgbClr val="BD3C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889</c:v>
                </c:pt>
                <c:pt idx="1">
                  <c:v>72</c:v>
                </c:pt>
                <c:pt idx="2">
                  <c:v>274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Same-model</c:v>
                </c:pt>
              </c:strCache>
            </c:strRef>
          </c:tx>
          <c:spPr>
            <a:solidFill>
              <a:srgbClr val="265F8B"/>
            </a:solidFill>
            <a:ln w="31750" cap="flat">
              <a:solidFill>
                <a:srgbClr val="265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65F8B"/>
              </a:solidFill>
              <a:ln w="9525" cap="flat">
                <a:solidFill>
                  <a:srgbClr val="265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4.61</c:v>
                </c:pt>
                <c:pt idx="1">
                  <c:v>1.24</c:v>
                </c:pt>
                <c:pt idx="2">
                  <c:v>0.62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Diverse-model</c:v>
                </c:pt>
              </c:strCache>
            </c:strRef>
          </c:tx>
          <c:spPr>
            <a:solidFill>
              <a:srgbClr val="BD3C31"/>
            </a:solidFill>
            <a:ln w="31750" cap="flat">
              <a:solidFill>
                <a:srgbClr val="BD3C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D3C31"/>
              </a:solidFill>
              <a:ln w="9525" cap="flat">
                <a:solidFill>
                  <a:srgbClr val="BD3C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1.28</c:v>
                </c:pt>
                <c:pt idx="1">
                  <c:v>0.3</c:v>
                </c:pt>
                <c:pt idx="2">
                  <c:v>0.38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Same-model</c:v>
                </c:pt>
              </c:strCache>
            </c:strRef>
          </c:tx>
          <c:spPr>
            <a:solidFill>
              <a:srgbClr val="265F8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Knapsack-50</c:v>
                  </c:pt>
                  <c:pt idx="1">
                    <c:v>3AP-Free-100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Diverse-model</c:v>
                </c:pt>
              </c:strCache>
            </c:strRef>
          </c:tx>
          <c:spPr>
            <a:solidFill>
              <a:srgbClr val="BD3C3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Knapsack-50</c:v>
                  </c:pt>
                  <c:pt idx="1">
                    <c:v>3AP-Free-100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 25 秒。论文研究的不是所有通信都是否有害，而是在统一预算的优化任务上，完整候选解的交换如何影响不同模型原本具有的探索差异。右图是论文图 1 的概念说明，不是实验轨迹。来源：Figure 1，https://arxiv.org/abs/2608.23541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秒。从中间的独立提案开始读。三个模型家族探索不同区域。向左是让提案者读取完整输出，后续解趋于相似；向右是保持提案独立，最后选择已有解。这里是两条替代路径，不是先收敛再靠选择恢复多样性。
来源：Figure 1: conceptual illustration, not measured trajectories。https://arxiv.org/abs/2608.23541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秒。四个单智能体控制组，六个多智能体工作流。Homo-Chain 和 Cross-Chain 是两个配置，不要合并成一个计数。控制预算相同不代表工作流除了信息可见性以外完全相同：轮次、角色和搜索方式也不同。MoA 的关键区别是三个提案者不互看，合成器才读取提案。统一预算 T=200K, W=600s, C=30s, K=25，具体含义按原论文配置。
来源：Section 3 and Table 15。https://arxiv.org/abs/2608.23541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秒。两种指标都用隐藏评分 Q，且越高越好。MEG 减去三个控制组中最好的分数，问整个工作流有没有超过最佳单智能体。MIG 减去同一批 agent 独立运行的并行基线，问交互本身有没有增加收益。它们不是同一个零点；MIG 为正不意味着 MEG 为正。并行基线的选择过程在论文 formal definition 的同一配置中固定。
来源：Appendix AE: formal metric definitions。https://arxiv.org/abs/2608.23541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秒。先看虚线零点，右侧才是正增益。0/10 表示这十个配置里，没有一个聚合 MEG 的置信区间完整位于零右侧。MoA 是唯一置信区间包含零的配置。这是九任务聚合结果，不能推出每个任务上交互都失败，更不能把相同预算下的质量损失说成测得了额外成本。
来源：Figure 2(a): aggregate MEG, 9 tasks, 95% CI。https://arxiv.org/abs/2608.23541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秒。横轴是同模型团队 MIG，纵轴是多模型团队 MIG。Chain、MAgICoRe、Debate 位于右下：同模型时有正增益，多模型时是负增益。表格给出对应数值。MoA 两种条件都略为正；HPE 两种条件都为负，不符合标题中的三种工作流，所以不能把这个模式说成所有交互系统的规律。
来源：Figure 2(b) and Table 2: mean MIG across 8 tasks。https://arxiv.org/abs/2608.23541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70 秒。这一页单独讨论另一个实验，不与 MIG 象限图混用。因子实验把同/多模型与选择/合成交叉，在 Erdős、DiffBases、MolQED 三任务上每格十次，合计 N=120。整体多样性系数 +0.188，但去掉 Erdős 后 +0.014，置信区间跨零。说明显著平均效应主要依赖任务构成，不证明多样性在所有任务上都带来稳定好处。
来源：Tables 10–11: diversity effect in the 2×2 factorial。https://arxiv.org/abs/2608.23541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80 秒。这里按表 28 的真实数值重绘，两张图的纵轴量纲不同，不能跨图比较数值大小。蓝色同模型，红色多模型。第二轮交换批评，第三轮暴露完整输出。DiffBases 的多模型分数 889→72→274，Erdős 1.28→0.30→0.38，均第二轮最好、第三轮回退。同模型在这两任务上持续改善。这支持作者关于完整输出暴露时点的机制解释，但两任务观察不等于普遍因果定律。
来源：Table 28: visible raw scores, lower is better on both tasks。https://arxiv.org/abs/2608.23541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75 秒。纵轴是可行率，不是质量评分。每格十次。同模型 Debate 的 Knapsack-50 是 2/10，多模型是 10/10；3AP-Free-100 则从同模型 6/10 降为多模型 0/10。作者解释 Knapsack 的超重约束容易直接修复，而三项等差数列违例更难定位。另一个结果：MAgICoRe/Gemini 在 Erdős 与 Flat Polynomials 首轮批评退化 17/30=57%，不能泛化成所有优化任务的批评退化率。
来源：Table 3: Debate feasibility, n=10 per condition。https://arxiv.org/abs/2608.23541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55 秒。四个边界：优化任务不是开放式写作；主基准每格五种子；多样性因子只三任务且依赖 Erdős；错误定位边界只两个可行性任务。低带宽信息通道在论文中提出，但没有直接比较哪种最好。区分已观察到的机制与下一步待验证假设。
来源：Section 5: limitations and future work。https://arxiv.org/abs/2608.23541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55 秒。论文的建议是在这些优化任务上先独立生成，再用验证器排序；当错误可定位时加入针对性批评，最后用更严格的隐藏验证器检查。不要把建议说成适用于所有 agent 系统的定律。下一步可以比较仅共享分数、失败原因、验证摘要和完整输出，控制预算、任务和提案数。
来源：Section 5 and Appendix A: author-proposed workflow。https://arxiv.org/abs/2608.23541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Interaction</a:t>
            </a:r>
            <a:endParaRPr lang="en-US" sz="4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communication erases diversity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multi-agent teams</a:t>
            </a:r>
            <a:endParaRPr lang="en-US" sz="2600" dirty="0"/>
          </a:p>
        </p:txBody>
      </p:sp>
      <p:pic>
        <p:nvPicPr>
          <p:cNvPr id="4" name="Image 0" descr="fig1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238292"/>
            <a:ext cx="3108960" cy="3649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680" y="4956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after full-output exchange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52303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Eunhyung Ann, Haokun Liu, Chenhao Tan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56692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Chicago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62453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2026 / arXiv:2608.23541v1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62453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reading /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 from independent proposals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conceptual illustration, not measured trajectories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3776" y="1581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Full-output exchange</a:t>
            </a:r>
            <a:endParaRPr lang="en-US" sz="2000" dirty="0"/>
          </a:p>
        </p:txBody>
      </p:sp>
      <p:pic>
        <p:nvPicPr>
          <p:cNvPr id="7" name="Image 0" descr="fig1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10" y="2130552"/>
            <a:ext cx="2507995" cy="2944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0288" y="1581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proposals</a:t>
            </a:r>
            <a:endParaRPr lang="en-US" sz="2000" dirty="0"/>
          </a:p>
        </p:txBody>
      </p:sp>
      <p:pic>
        <p:nvPicPr>
          <p:cNvPr id="9" name="Image 1" descr="fig1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622" y="2130552"/>
            <a:ext cx="2507995" cy="29443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41080" y="1581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Best-of-N selection</a:t>
            </a:r>
            <a:endParaRPr lang="en-US" sz="2000" dirty="0"/>
          </a:p>
        </p:txBody>
      </p:sp>
      <p:pic>
        <p:nvPicPr>
          <p:cNvPr id="11" name="Image 2" descr="fig1-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414" y="2130552"/>
            <a:ext cx="2507995" cy="294436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 flipH="1">
            <a:off x="3538728" y="3611880"/>
            <a:ext cx="1097280" cy="914"/>
          </a:xfrm>
          <a:prstGeom prst="line">
            <a:avLst/>
          </a:prstGeom>
          <a:noFill/>
          <a:ln w="25400">
            <a:solidFill>
              <a:srgbClr val="BD3C31"/>
            </a:solidFill>
            <a:prstDash val="solid"/>
            <a:tailEnd type="triangle"/>
          </a:ln>
        </p:spPr>
      </p:sp>
      <p:sp>
        <p:nvSpPr>
          <p:cNvPr id="13" name="Shape 7"/>
          <p:cNvSpPr/>
          <p:nvPr/>
        </p:nvSpPr>
        <p:spPr>
          <a:xfrm>
            <a:off x="7562088" y="3611880"/>
            <a:ext cx="1124712" cy="914"/>
          </a:xfrm>
          <a:prstGeom prst="line">
            <a:avLst/>
          </a:prstGeom>
          <a:noFill/>
          <a:ln w="25400">
            <a:solidFill>
              <a:srgbClr val="265F8B"/>
            </a:solidFill>
            <a:prstDash val="solid"/>
            <a:tailEnd type="triangle"/>
          </a:ln>
        </p:spPr>
      </p:sp>
      <p:sp>
        <p:nvSpPr>
          <p:cNvPr id="14" name="Text 8"/>
          <p:cNvSpPr/>
          <p:nvPr/>
        </p:nvSpPr>
        <p:spPr>
          <a:xfrm>
            <a:off x="457200" y="53675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converge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53712" y="53675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model families explore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8604504" y="53675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remains independent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workflows share the same resource budget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161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verifier-scored tasks / three model families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and Table 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7647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Single-agent controls (4)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355080" y="17647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workflows (6)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86584"/>
          <a:ext cx="5166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63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Single-Shot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attempt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Best-of-N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sampling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Self-Refine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Self-critique and revise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VGS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Verifier-guided search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86584"/>
          <a:ext cx="5120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154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Homo-Chain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Same-model revision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Cross-Chain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Cross-model revision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MAgICoRe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Solve, review, refine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Debate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Critique exchange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HPE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and execute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proposals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749808" y="49377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tokens / 600 s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749808" y="5532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 / GPT-4o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355080" y="56235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 proposers never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one another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and MIG use different baselines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AE: formal metric definitions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86537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270662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workflow improve?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3438144"/>
            <a:ext cx="484632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739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hidden score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371600" y="4288536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single-agent control score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00800" y="186537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400800" y="270662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interaction add value?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6400800" y="3438144"/>
            <a:ext cx="484632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739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hidden score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995160" y="4288536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agents’ independent score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77240" y="5769864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∈ [0, 1], higher is better. The hidden evaluator scores the final artifact.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workflow reliably beats the best single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2(a): aggregate MEG, 9 tasks, 95% 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pic>
        <p:nvPicPr>
          <p:cNvPr id="6" name="Image 0" descr="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600200"/>
            <a:ext cx="4645152" cy="4645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9659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10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6492240" y="3063240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Configurations with reliably positive aggregate MEG</a:t>
            </a:r>
            <a:endParaRPr lang="en-US" sz="2500" dirty="0"/>
          </a:p>
        </p:txBody>
      </p:sp>
      <p:sp>
        <p:nvSpPr>
          <p:cNvPr id="9" name="Shape 5"/>
          <p:cNvSpPr/>
          <p:nvPr/>
        </p:nvSpPr>
        <p:spPr>
          <a:xfrm>
            <a:off x="6492240" y="4224528"/>
            <a:ext cx="475488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4507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 is the only configuration whose CI includes zero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92240" y="55961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the nine-task aggregate, not every task individually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workflows lose their gain with diverse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2(b) and Table 2: mean MIG across 8 tasks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6" name="Image 0" descr="quadr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868" y="1664208"/>
            <a:ext cx="4438816" cy="452628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74520"/>
          <a:ext cx="479145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81328"/>
                <a:gridCol w="148132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Diverse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+0.051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−0.024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MAgICoRe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+0.044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−0.035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Debate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+0.016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6492240" y="51206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 from full-output exchange depends on the model mix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492240" y="60899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HPE has negative MIG in both conditions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diversity advantage is task-dependent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10–11: diversity effect in the 2×2 factorial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14516" y="1947672"/>
            <a:ext cx="914" cy="2651760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305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tasks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22960" y="2633472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+0.188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288957" y="2496312"/>
            <a:ext cx="2707173" cy="914"/>
          </a:xfrm>
          <a:prstGeom prst="line">
            <a:avLst/>
          </a:prstGeom>
          <a:noFill/>
          <a:ln w="38100">
            <a:solidFill>
              <a:srgbClr val="BD3C3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88957" y="2377440"/>
            <a:ext cx="914" cy="237744"/>
          </a:xfrm>
          <a:prstGeom prst="line">
            <a:avLst/>
          </a:prstGeom>
          <a:noFill/>
          <a:ln w="19050">
            <a:solidFill>
              <a:srgbClr val="BD3C3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996129" y="2377440"/>
            <a:ext cx="914" cy="237744"/>
          </a:xfrm>
          <a:prstGeom prst="line">
            <a:avLst/>
          </a:prstGeom>
          <a:noFill/>
          <a:ln w="19050">
            <a:solidFill>
              <a:srgbClr val="BD3C3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97920" y="2427732"/>
            <a:ext cx="137160" cy="137160"/>
          </a:xfrm>
          <a:prstGeom prst="ellipse">
            <a:avLst/>
          </a:prstGeom>
          <a:solidFill>
            <a:srgbClr val="BD3C31"/>
          </a:solidFill>
          <a:ln w="12700">
            <a:solidFill>
              <a:srgbClr val="BD3C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2644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[+0.073, +0.299]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366674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Erdős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22960" y="4169664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+0.014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5108844" y="4032504"/>
            <a:ext cx="2970703" cy="914"/>
          </a:xfrm>
          <a:prstGeom prst="line">
            <a:avLst/>
          </a:prstGeom>
          <a:noFill/>
          <a:ln w="38100">
            <a:solidFill>
              <a:srgbClr val="5B677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08844" y="3913632"/>
            <a:ext cx="914" cy="237744"/>
          </a:xfrm>
          <a:prstGeom prst="line">
            <a:avLst/>
          </a:prstGeom>
          <a:noFill/>
          <a:ln w="19050">
            <a:solidFill>
              <a:srgbClr val="5B677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79547" y="3913632"/>
            <a:ext cx="914" cy="237744"/>
          </a:xfrm>
          <a:prstGeom prst="line">
            <a:avLst/>
          </a:prstGeom>
          <a:noFill/>
          <a:ln w="19050">
            <a:solidFill>
              <a:srgbClr val="5B677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13637" y="3963924"/>
            <a:ext cx="137160" cy="137160"/>
          </a:xfrm>
          <a:prstGeom prst="ellipse">
            <a:avLst/>
          </a:prstGeom>
          <a:solidFill>
            <a:srgbClr val="5B6771"/>
          </a:solidFill>
          <a:ln w="12700">
            <a:solidFill>
              <a:srgbClr val="5B67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800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[-0.109, +0.139]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617720" y="4919472"/>
            <a:ext cx="598932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6652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42332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14516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40196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612380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38060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810244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35924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008108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33788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617720" y="557784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diversity effect with 95% confidence interval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822960" y="6089904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N=120 overall; n=80 after withholding Erdős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Debate regresses after full-output exchange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28: visible raw scores, lower is better on both tasks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68096" y="148132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score (lower is better)    Blue: same-model    Red: diverse-model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9933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Bases</a:t>
            </a:r>
            <a:endParaRPr lang="en-US" sz="2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615184"/>
          <a:ext cx="5212080" cy="2715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5486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965960" y="5431536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889 → 72 → 274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400800" y="19933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Erdős</a:t>
            </a:r>
            <a:endParaRPr lang="en-US" sz="25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172200" y="2615184"/>
          <a:ext cx="5212080" cy="2715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8"/>
          <p:cNvSpPr/>
          <p:nvPr/>
        </p:nvSpPr>
        <p:spPr>
          <a:xfrm>
            <a:off x="6263640" y="5486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452360" y="5431536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 → 0.3 → 0.38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822960" y="60899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independent proposals    R2 critique exchange    R3 full-output exposure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localization and the value of critique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3: Debate feasibility, n=10 per condition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" y="1417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rate (%), n=10 per condition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04088" y="1828800"/>
          <a:ext cx="6675120" cy="4050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938528"/>
            <a:ext cx="3611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Knapsack: capacity violations are easy to locate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818120" y="3364992"/>
            <a:ext cx="3611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3AP-Free: locating a violating triple is harder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7818120" y="4910328"/>
            <a:ext cx="3611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critique identify a concrete repair?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7240" y="6044184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result: MAgICoRe / Gemini regresses in 17/30 first critiques on Erdős + Flat Poly (Table 7)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is strongest within this benchmark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5: limitations and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856232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480560"/>
              </a:tblGrid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Generalization limit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benchmark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tasks, 5 seeds/cell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Writing, planning, dialogue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Diversity factorial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tasks, N=120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crosses zero without Erdős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Feasibility contrast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tasks, n=10/cell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types of violation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information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direction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Channels not directly compared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80644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question: which information helps, on which tasks, and when?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proposals preserve useful coverage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and Appendix A: author-proposed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7830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differences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114800" y="17830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models are useful when exploration stays independent.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2587752"/>
            <a:ext cx="1042416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84378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D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exposure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114800" y="284378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Full-output exchange can make distinct strategies converge.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777240" y="3648456"/>
            <a:ext cx="1042416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90448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concrete faults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114800" y="390448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is more useful when the violation can be located.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77240" y="5294376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do scores, failure causes or verified summaries preserve exploration?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77240" y="619048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ablation: the paper has not directly compared these sharing channels.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Interaction Tax</dc:title>
  <dc:subject>A faithful reading of arXiv:2608.23541v1</dc:subject>
  <dc:creator>Paper reading</dc:creator>
  <cp:lastModifiedBy>Paper reading</cp:lastModifiedBy>
  <cp:revision>1</cp:revision>
  <dcterms:created xsi:type="dcterms:W3CDTF">2026-10-07T16:02:46Z</dcterms:created>
  <dcterms:modified xsi:type="dcterms:W3CDTF">2026-10-07T16:02:46Z</dcterms:modified>
</cp:coreProperties>
</file>