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Same-model</c:v>
                </c:pt>
              </c:strCache>
            </c:strRef>
          </c:tx>
          <c:spPr>
            <a:solidFill>
              <a:srgbClr val="265F8B"/>
            </a:solidFill>
            <a:ln w="31750" cap="flat">
              <a:solidFill>
                <a:srgbClr val="265F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65F8B"/>
              </a:solidFill>
              <a:ln w="9525" cap="flat">
                <a:solidFill>
                  <a:srgbClr val="265F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436</c:v>
                </c:pt>
                <c:pt idx="1">
                  <c:v>132</c:v>
                </c:pt>
                <c:pt idx="2">
                  <c:v>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Diverse-model</c:v>
                </c:pt>
              </c:strCache>
            </c:strRef>
          </c:tx>
          <c:spPr>
            <a:solidFill>
              <a:srgbClr val="B72C2C"/>
            </a:solidFill>
            <a:ln w="31750" cap="flat">
              <a:solidFill>
                <a:srgbClr val="B72C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72C2C"/>
              </a:solidFill>
              <a:ln w="9525" cap="flat">
                <a:solidFill>
                  <a:srgbClr val="B72C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889</c:v>
                </c:pt>
                <c:pt idx="1">
                  <c:v>72</c:v>
                </c:pt>
                <c:pt idx="2">
                  <c:v>274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3E8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DE3E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Same-model</c:v>
                </c:pt>
              </c:strCache>
            </c:strRef>
          </c:tx>
          <c:spPr>
            <a:solidFill>
              <a:srgbClr val="265F8B"/>
            </a:solidFill>
            <a:ln w="31750" cap="flat">
              <a:solidFill>
                <a:srgbClr val="265F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65F8B"/>
              </a:solidFill>
              <a:ln w="9525" cap="flat">
                <a:solidFill>
                  <a:srgbClr val="265F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4.61</c:v>
                </c:pt>
                <c:pt idx="1">
                  <c:v>1.24</c:v>
                </c:pt>
                <c:pt idx="2">
                  <c:v>0.62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Diverse-model</c:v>
                </c:pt>
              </c:strCache>
            </c:strRef>
          </c:tx>
          <c:spPr>
            <a:solidFill>
              <a:srgbClr val="B72C2C"/>
            </a:solidFill>
            <a:ln w="31750" cap="flat">
              <a:solidFill>
                <a:srgbClr val="B72C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72C2C"/>
              </a:solidFill>
              <a:ln w="9525" cap="flat">
                <a:solidFill>
                  <a:srgbClr val="B72C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1.28</c:v>
                </c:pt>
                <c:pt idx="1">
                  <c:v>0.3</c:v>
                </c:pt>
                <c:pt idx="2">
                  <c:v>0.38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3E8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DE3E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Copied</c:v>
                </c:pt>
              </c:strCache>
            </c:strRef>
          </c:tx>
          <c:spPr>
            <a:solidFill>
              <a:srgbClr val="265F8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700" u="none">
                    <a:solidFill>
                      <a:srgbClr val="18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Circle Packing</c:v>
                  </c:pt>
                  <c:pt idx="1">
                    <c:v>Molecule QED</c:v>
                  </c:pt>
                  <c:pt idx="2">
                    <c:v>Erdős</c:v>
                  </c:pt>
                  <c:pt idx="3">
                    <c:v>Flat Polynomials</c:v>
                  </c:pt>
                  <c:pt idx="4">
                    <c:v>TSP-100</c:v>
                  </c:pt>
                  <c:pt idx="5">
                    <c:v>TSP-50</c:v>
                  </c:pt>
                  <c:pt idx="6">
                    <c:v>Difference Bases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80</c:v>
                </c:pt>
                <c:pt idx="2">
                  <c:v>80</c:v>
                </c:pt>
                <c:pt idx="3">
                  <c:v>100</c:v>
                </c:pt>
                <c:pt idx="4">
                  <c:v>100</c:v>
                </c:pt>
                <c:pt idx="5">
                  <c:v>90</c:v>
                </c:pt>
                <c:pt idx="6">
                  <c:v>43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700" u="none">
                  <a:solidFill>
                    <a:srgbClr val="18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DE3E8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DDE3E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同模型</c:v>
                </c:pt>
              </c:strCache>
            </c:strRef>
          </c:tx>
          <c:spPr>
            <a:solidFill>
              <a:srgbClr val="265F8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Knapsack-50</c:v>
                  </c:pt>
                  <c:pt idx="1">
                    <c:v>3AP-Free-100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多模型</c:v>
                </c:pt>
              </c:strCache>
            </c:strRef>
          </c:tx>
          <c:spPr>
            <a:solidFill>
              <a:srgbClr val="B72C2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Knapsack-50</c:v>
                  </c:pt>
                  <c:pt idx="1">
                    <c:v>3AP-Free-100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E3E8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DDE3E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7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开场约 25 秒。论文研究的不是所有通信都是否有害，而是在统一预算的优化任务上，完整候选解的交换如何影响不同模型原本具有的探索差异。右图是论文图 1 的概念说明，不是实验轨迹。来源：Figure 1，https://arxiv.org/abs/2608.23541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30 秒。先看模型差异是否有价值，再问交互带来什么净收益，最后看收益或损失的机制和边界。三部分对应三个可回答的问题。
来源：Paper Sections 3–5。https://arxiv.org/abs/2608.23541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60 秒。这里是六个分数分歧明显的任务，不是全任务覆盖表。Q 越大越好。Claude 在 Circle Packing/TSP-50 更好，GPT-4o 在 Erdős/TSP-100 更好，Gemini 在 DiffBases/Flat Poly 更好。Erdős 的 0.710 来自平凡常数，所以分数优势不代表策略多样。GPT-4o 在 TSP-50 的破折号保留原表含义，不替换成 0。
来源：Table 1: Best-of-N normalized Q, six selected tasks。https://arxiv.org/abs/2608.23541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65 秒。从中间的独立提案开始读。三个模型家族探索不同区域。向左是让提案者读取完整输出，后续解趋于相似；向右是保持提案独立，最后选择已有解。这里是两条替代路径，不是先收敛再靠选择恢复多样性。
来源：Figure 1: conceptual illustration, not measured trajectories。https://arxiv.org/abs/2608.23541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65 秒。四个单智能体控制组，六个多智能体工作流。Homo-Chain 和 Cross-Chain 是两个配置，不要合并成一个计数。控制预算相同不代表工作流除了信息可见性以外完全相同：轮次、角色和搜索方式也不同。MoA 的关键区别是三个提案者不互看，合成器才读取提案。统一预算 T=200K, W=600s, C=30s, K=25，具体含义按原论文配置。
来源：Section 3 and Table 15。https://arxiv.org/abs/2608.23541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65 秒。两种指标都用隐藏评分 Q，且越高越好。MEG 减去三个控制组中最好的分数，问整个工作流有没有超过最佳单智能体。MIG 减去同一批 agent 独立运行的并行基线，问交互本身有没有增加收益。它们不是同一个零点；MIG 为正不意味着 MEG 为正。并行基线的选择过程在论文 formal definition 的同一配置中固定。
来源：Appendix AE: formal metric definitions。https://arxiv.org/abs/2608.23541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65 秒。先看虚线零点，右侧才是正增益。0/10 表示这十个配置里，没有一个聚合 MEG 的置信区间完整位于零右侧。MoA 是唯一置信区间包含零的配置。这是九任务聚合结果，不能推出每个任务上交互都失败，更不能把相同预算下的质量损失说成测得了额外成本。
来源：Figure 2(a): aggregate MEG, 9 tasks, 95% CI。https://arxiv.org/abs/2608.23541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65 秒。横轴是同模型团队 MIG，纵轴是多模型团队 MIG。Chain、MAgICoRe、Debate 位于右下：同模型时有正增益，多模型时是负增益。表格给出对应数值。MoA 两种条件都略为正；HPE 两种条件都为负，不符合标题中的三种工作流，所以不能把这个模式说成所有交互系统的规律。
来源：Figure 2(b) and Table 2: mean MIG across 8 tasks。https://arxiv.org/abs/2608.23541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70 秒。这一页单独讨论另一个实验，不与 MIG 象限图混用。因子实验把同/多模型与选择/合成交叉，在 Erdős、DiffBases、MolQED 三任务上每格十次，合计 N=120。整体多样性系数 +0.188，但去掉 Erdős 后 +0.014，置信区间跨零。说明显著平均效应主要依赖任务构成，不证明多样性在所有任务上都带来稳定好处。
来源：Tables 10–11: diversity effect in the 2×2 factorial。https://arxiv.org/abs/2608.23541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80 秒。这里按表 28 的真实数值重绘，两张图的纵轴量纲不同，不能跨图比较数值大小。蓝色同模型，红色多模型。第二轮交换批评，第三轮暴露完整输出。DiffBases 的多模型分数 889→72→274，Erdős 1.28→0.30→0.38，均第二轮最好、第三轮回退。同模型在这两任务上持续改善。这支持作者关于完整输出暴露时点的机制解释，但两任务观察不等于普遍因果定律。
来源：Table 28: visible raw scores, lower is better on both tasks。https://arxiv.org/abs/2608.23541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60 秒。这页只讲合成器的选择行为。七任务中的五个，合成器复制最佳提案的比例至少 80%。Circle Packing 40%，DiffBases 43%，所以不是所有任务都复制。该统计说明合成常以选择已有输出为主，不直接等同于所有 proposer 发生相同的收敛，也不把复制最佳解本身视为质量损失。
来源：Table 16: synthesis output classification on seven tasks。https://arxiv.org/abs/2608.23541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75 秒。纵轴是可行率，不是质量评分。每格十次。同模型 Debate 的 Knapsack-50 是 2/10，多模型是 10/10；3AP-Free-100 则从同模型 6/10 降为多模型 0/10。作者解释 Knapsack 的超重约束容易直接修复，而三项等差数列违例更难定位。另一个结果：MAgICoRe/Gemini 在 Erdős 与 Flat Polynomials 首轮批评退化 17/30=57%，不能泛化成所有优化任务的批评退化率。
来源：Table 3: Debate feasibility, n=10 per condition。https://arxiv.org/abs/2608.23541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55 秒。四个边界：优化任务不是开放式写作；主基准每格五种子；多样性因子只三任务且依赖 Erdős；错误定位边界只两个可行性任务。低带宽信息通道在论文中提出，但没有直接比较哪种最好。区分已观察到的机制与下一步待验证假设。
来源：Section 5: limitations and future work。https://arxiv.org/abs/2608.23541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55 秒。论文的建议是在这些优化任务上先独立生成，再用验证器排序；当错误可定位时加入针对性批评，最后用更严格的隐藏验证器检查。不要把建议说成适用于所有 agent 系统的定律。下一步可以比较仅共享分数、失败原因、验证摘要和完整输出，控制预算、任务和提案数。
来源：Section 5 and Appendix A: author-proposed workflow。https://arxiv.org/abs/2608.23541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交互税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6858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当通信抹去多智能体团队中的多样性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0299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Interaction Tax</a:t>
            </a:r>
            <a:endParaRPr lang="en-US" sz="2500" dirty="0"/>
          </a:p>
        </p:txBody>
      </p:sp>
      <p:pic>
        <p:nvPicPr>
          <p:cNvPr id="5" name="Image 0" descr="fig1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238292"/>
            <a:ext cx="3108960" cy="3649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0" y="4956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完整解交换后的收敛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52303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Eunhyung Ann, Haokun Liu, Chenhao Tan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31520" y="56692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Chicago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624535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ICML 2026 / arXiv:2608.23541v1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09560" y="624535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论文组会分享</a:t>
            </a:r>
            <a:r>
              <a:rPr lang="en-US" sz="13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2026 </a:t>
            </a:r>
            <a:r>
              <a:rPr lang="en-US" sz="13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r>
              <a:rPr lang="en-US" sz="13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 </a:t>
            </a:r>
            <a:r>
              <a:rPr lang="en-US" sz="13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汇报主线：交互何时有帮助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Sections 3–5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184708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874520" y="184708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问题与实验设计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874520" y="239572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模型差异值得保留吗？用什么基线比较？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874520" y="2871216"/>
            <a:ext cx="9372600" cy="914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09067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874520" y="30906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结果与收敛机制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1874520" y="363931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完整解交换后，收益在哪一步消失？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1874520" y="4114800"/>
            <a:ext cx="9372600" cy="914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433425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874520" y="433425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边界与讨论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1874520" y="488289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错误好定位时，批评是否仍有帮助？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一、不同模型各有擅长的任务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2161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Best-of-N </a:t>
            </a:r>
            <a:r>
              <a:rPr lang="en-US" sz="14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归一化分数</a:t>
            </a:r>
            <a:r>
              <a:rPr lang="en-US" sz="14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</a:t>
            </a:r>
            <a:r>
              <a:rPr lang="en-US" sz="14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，越高越好；六个选定任务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1: Best-of-N normalized Q, six selected tasks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19072"/>
          <a:ext cx="10762488" cy="914400"/>
        </p:xfrm>
        <a:graphic>
          <a:graphicData uri="http://schemas.openxmlformats.org/drawingml/2006/table">
            <a:tbl>
              <a:tblPr/>
              <a:tblGrid>
                <a:gridCol w="2852928"/>
                <a:gridCol w="1828800"/>
                <a:gridCol w="1828800"/>
                <a:gridCol w="1828800"/>
                <a:gridCol w="2423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65F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65F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65F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65F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65F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最优模型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Circle Packing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0.519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0.745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TSP-50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0.115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Erdős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TSP-100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0.013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DiffBases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0.209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Poly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0.007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0.143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31520" y="55046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多模型组合的动机：覆盖不同的解法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731520" y="60167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</a:t>
            </a:r>
            <a:r>
              <a:rPr lang="en-US" sz="17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Erdős </a:t>
            </a:r>
            <a:r>
              <a:rPr lang="en-US" sz="17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上的高分常数，并不代表丰富的策略。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一、独立提案通向两种不同结果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1: conceptual illustration, not measured trajectories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3776" y="1581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B7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交换完整解</a:t>
            </a:r>
            <a:endParaRPr lang="en-US" sz="2300" dirty="0"/>
          </a:p>
        </p:txBody>
      </p:sp>
      <p:pic>
        <p:nvPicPr>
          <p:cNvPr id="7" name="Image 0" descr="fig1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110" y="2130552"/>
            <a:ext cx="2507995" cy="29443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90288" y="1581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独立生成提案</a:t>
            </a:r>
            <a:endParaRPr lang="en-US" sz="2300" dirty="0"/>
          </a:p>
        </p:txBody>
      </p:sp>
      <p:pic>
        <p:nvPicPr>
          <p:cNvPr id="9" name="Image 1" descr="fig1-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622" y="2130552"/>
            <a:ext cx="2507995" cy="29443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41080" y="15819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直接选择最优</a:t>
            </a:r>
            <a:endParaRPr lang="en-US" sz="2300" dirty="0"/>
          </a:p>
        </p:txBody>
      </p:sp>
      <p:pic>
        <p:nvPicPr>
          <p:cNvPr id="11" name="Image 2" descr="fig1-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414" y="2130552"/>
            <a:ext cx="2507995" cy="294436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 flipH="1">
            <a:off x="3538728" y="3611880"/>
            <a:ext cx="1097280" cy="914"/>
          </a:xfrm>
          <a:prstGeom prst="line">
            <a:avLst/>
          </a:prstGeom>
          <a:noFill/>
          <a:ln w="25400">
            <a:solidFill>
              <a:srgbClr val="B72C2C"/>
            </a:solidFill>
            <a:prstDash val="solid"/>
            <a:tailEnd type="triangle"/>
          </a:ln>
        </p:spPr>
      </p:sp>
      <p:sp>
        <p:nvSpPr>
          <p:cNvPr id="13" name="Shape 7"/>
          <p:cNvSpPr/>
          <p:nvPr/>
        </p:nvSpPr>
        <p:spPr>
          <a:xfrm>
            <a:off x="7562088" y="3611880"/>
            <a:ext cx="1124712" cy="914"/>
          </a:xfrm>
          <a:prstGeom prst="line">
            <a:avLst/>
          </a:prstGeom>
          <a:noFill/>
          <a:ln w="25400">
            <a:solidFill>
              <a:srgbClr val="265F8B"/>
            </a:solidFill>
            <a:prstDash val="solid"/>
            <a:tailEnd type="triangle"/>
          </a:ln>
        </p:spPr>
      </p:sp>
      <p:sp>
        <p:nvSpPr>
          <p:cNvPr id="14" name="Text 8"/>
          <p:cNvSpPr/>
          <p:nvPr/>
        </p:nvSpPr>
        <p:spPr>
          <a:xfrm>
            <a:off x="457200" y="536752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B7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不同方案趋于收敛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4553712" y="536752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三个模型家族，各自探索</a:t>
            </a:r>
            <a:endParaRPr lang="en-US" sz="2100" dirty="0"/>
          </a:p>
        </p:txBody>
      </p:sp>
      <p:sp>
        <p:nvSpPr>
          <p:cNvPr id="16" name="Text 10"/>
          <p:cNvSpPr/>
          <p:nvPr/>
        </p:nvSpPr>
        <p:spPr>
          <a:xfrm>
            <a:off x="8604504" y="536752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探索差异得以保留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一、同预算比较</a:t>
            </a:r>
            <a:r>
              <a:rPr lang="en-US" sz="30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 </a:t>
            </a: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种工作流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21615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</a:t>
            </a:r>
            <a:r>
              <a:rPr lang="en-US" sz="14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个验证器评分任务</a:t>
            </a:r>
            <a:r>
              <a:rPr lang="en-US" sz="14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4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三个模型家族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and Table 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176479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单智能体控制组（</a:t>
            </a:r>
            <a:r>
              <a:rPr lang="en-US" sz="23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23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355080" y="176479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多智能体工作流（</a:t>
            </a:r>
            <a:r>
              <a:rPr lang="en-US" sz="23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23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86584"/>
          <a:ext cx="5166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632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Single-Shot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单次生成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Best-of-N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独立采样，再选最优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Self-Refine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自我批评与修订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VGS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验证器引导搜索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386584"/>
          <a:ext cx="51206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1546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Homo-Chain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同模型依次修订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Cross-Chain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跨模型依次修订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MAgICoRe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求解、评审、改进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Debate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交换批评与合成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HPE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规划、执行、整合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独立提案，再合成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749808" y="493776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 tokens / 600 s</a:t>
            </a:r>
            <a:endParaRPr lang="en-US" sz="2800" dirty="0"/>
          </a:p>
        </p:txBody>
      </p:sp>
      <p:sp>
        <p:nvSpPr>
          <p:cNvPr id="12" name="Text 7"/>
          <p:cNvSpPr/>
          <p:nvPr/>
        </p:nvSpPr>
        <p:spPr>
          <a:xfrm>
            <a:off x="749808" y="55321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 / GPT-4o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355080" y="56235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7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</a:t>
            </a:r>
            <a:r>
              <a:rPr lang="en-US" sz="2000" b="1" dirty="0">
                <a:solidFill>
                  <a:srgbClr val="B7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：提案者之间互不可见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</a:t>
            </a:r>
            <a:r>
              <a:rPr lang="en-US" sz="30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 </a:t>
            </a: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sz="30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MIG </a:t>
            </a: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比较不同的基线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AE: formal metric definitions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86537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" y="270662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整个工作流更好吗？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77240" y="3438144"/>
            <a:ext cx="4846320" cy="914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739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配置的隐藏分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371600" y="4288536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最强单智能体控制组的分数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00800" y="186537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B7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400800" y="270662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交互本身有净收益吗？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6400800" y="3438144"/>
            <a:ext cx="4846320" cy="914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3739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配置的隐藏分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64008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B7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995160" y="4288536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</a:t>
            </a:r>
            <a:r>
              <a:rPr lang="en-US" sz="22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 </a:t>
            </a:r>
            <a:r>
              <a:rPr lang="en-US" sz="22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的独立运行分数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77240" y="5769864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∈ [0, 1]</a:t>
            </a:r>
            <a:r>
              <a:rPr lang="en-US" sz="20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，越高越好；隐藏评估器只评分最终产物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二、没有配置显著超过最强单智能体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2(a): aggregate MEG, 9 tasks, 95% CI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pic>
        <p:nvPicPr>
          <p:cNvPr id="6" name="Image 0" descr="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1600200"/>
            <a:ext cx="4645152" cy="46451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2240" y="19659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B7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10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6492240" y="3063240"/>
            <a:ext cx="4892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r>
              <a:rPr lang="en-US" sz="25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MEG </a:t>
            </a:r>
            <a:r>
              <a:rPr lang="en-US" sz="2500" b="1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显著为正的配置数</a:t>
            </a:r>
            <a:endParaRPr lang="en-US" sz="2500" dirty="0"/>
          </a:p>
        </p:txBody>
      </p:sp>
      <p:sp>
        <p:nvSpPr>
          <p:cNvPr id="9" name="Shape 5"/>
          <p:cNvSpPr/>
          <p:nvPr/>
        </p:nvSpPr>
        <p:spPr>
          <a:xfrm>
            <a:off x="6492240" y="4224528"/>
            <a:ext cx="4754880" cy="914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92240" y="450799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 </a:t>
            </a:r>
            <a:r>
              <a:rPr lang="en-US" sz="2200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是唯一置信区间包含</a:t>
            </a:r>
            <a:r>
              <a:rPr lang="en-US" sz="2200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 </a:t>
            </a:r>
            <a:r>
              <a:rPr lang="en-US" sz="2200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的配置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92240" y="55961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结论范围：九任务聚合，不代表逐任务都无收益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二、三种工作流在多模型下收益反转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2(b) and Table 2: mean MIG across 8 tasks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pic>
        <p:nvPicPr>
          <p:cNvPr id="6" name="Image 0" descr="quadr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868" y="1664208"/>
            <a:ext cx="4438816" cy="452628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74520"/>
          <a:ext cx="4791456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81328"/>
                <a:gridCol w="148132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65F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工作流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65F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同模型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65F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多模型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+0.051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−0.024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MAgICoRe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+0.044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−0.035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Debate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−0.078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MoA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825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+0.016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6492240" y="51206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B7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完整输出交换的增益依赖模型组合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6492240" y="608990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HPE</a:t>
            </a:r>
            <a:r>
              <a:rPr lang="en-US" sz="15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：两种模型组合下</a:t>
            </a:r>
            <a:r>
              <a:rPr lang="en-US" sz="15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MIG </a:t>
            </a:r>
            <a:r>
              <a:rPr lang="en-US" sz="15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均为负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二、多样性的优势依赖具体任务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10–11: diversity effect in the 2×2 factorial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14516" y="1947672"/>
            <a:ext cx="914" cy="2651760"/>
          </a:xfrm>
          <a:prstGeom prst="line">
            <a:avLst/>
          </a:prstGeom>
          <a:noFill/>
          <a:ln w="10160">
            <a:solidFill>
              <a:srgbClr val="5B677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13055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B7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全部三个任务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822960" y="2633472"/>
            <a:ext cx="3246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B7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+0.188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7288957" y="2496312"/>
            <a:ext cx="2707173" cy="914"/>
          </a:xfrm>
          <a:prstGeom prst="line">
            <a:avLst/>
          </a:prstGeom>
          <a:noFill/>
          <a:ln w="38100">
            <a:solidFill>
              <a:srgbClr val="B72C2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88957" y="2377440"/>
            <a:ext cx="914" cy="237744"/>
          </a:xfrm>
          <a:prstGeom prst="line">
            <a:avLst/>
          </a:prstGeom>
          <a:noFill/>
          <a:ln w="19050">
            <a:solidFill>
              <a:srgbClr val="B72C2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996129" y="2377440"/>
            <a:ext cx="914" cy="237744"/>
          </a:xfrm>
          <a:prstGeom prst="line">
            <a:avLst/>
          </a:prstGeom>
          <a:noFill/>
          <a:ln w="19050">
            <a:solidFill>
              <a:srgbClr val="B72C2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97920" y="2427732"/>
            <a:ext cx="137160" cy="137160"/>
          </a:xfrm>
          <a:prstGeom prst="ellipse">
            <a:avLst/>
          </a:prstGeom>
          <a:solidFill>
            <a:srgbClr val="B72C2C"/>
          </a:solidFill>
          <a:ln w="12700">
            <a:solidFill>
              <a:srgbClr val="B72C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2644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 [+0.073, +0.299]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2960" y="366674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</a:t>
            </a:r>
            <a:r>
              <a:rPr lang="en-US" sz="2500" b="1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Erdős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822960" y="4169664"/>
            <a:ext cx="3246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+0.014</a:t>
            </a:r>
            <a:endParaRPr lang="en-US" sz="3600" dirty="0"/>
          </a:p>
        </p:txBody>
      </p:sp>
      <p:sp>
        <p:nvSpPr>
          <p:cNvPr id="16" name="Shape 13"/>
          <p:cNvSpPr/>
          <p:nvPr/>
        </p:nvSpPr>
        <p:spPr>
          <a:xfrm>
            <a:off x="5108844" y="4032504"/>
            <a:ext cx="2970703" cy="914"/>
          </a:xfrm>
          <a:prstGeom prst="line">
            <a:avLst/>
          </a:prstGeom>
          <a:noFill/>
          <a:ln w="38100">
            <a:solidFill>
              <a:srgbClr val="5B677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08844" y="3913632"/>
            <a:ext cx="914" cy="237744"/>
          </a:xfrm>
          <a:prstGeom prst="line">
            <a:avLst/>
          </a:prstGeom>
          <a:noFill/>
          <a:ln w="19050">
            <a:solidFill>
              <a:srgbClr val="5B677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79547" y="3913632"/>
            <a:ext cx="914" cy="237744"/>
          </a:xfrm>
          <a:prstGeom prst="line">
            <a:avLst/>
          </a:prstGeom>
          <a:noFill/>
          <a:ln w="19050">
            <a:solidFill>
              <a:srgbClr val="5B677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13637" y="3963924"/>
            <a:ext cx="137160" cy="137160"/>
          </a:xfrm>
          <a:prstGeom prst="ellipse">
            <a:avLst/>
          </a:prstGeom>
          <a:solidFill>
            <a:srgbClr val="5B6771"/>
          </a:solidFill>
          <a:ln w="12700">
            <a:solidFill>
              <a:srgbClr val="5B677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800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 [-0.109, +0.139]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617720" y="4919472"/>
            <a:ext cx="5989320" cy="914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6652" y="4919472"/>
            <a:ext cx="914" cy="109728"/>
          </a:xfrm>
          <a:prstGeom prst="line">
            <a:avLst/>
          </a:prstGeom>
          <a:noFill/>
          <a:ln w="10160">
            <a:solidFill>
              <a:srgbClr val="5B677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42332" y="5111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-0.1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14516" y="4919472"/>
            <a:ext cx="914" cy="109728"/>
          </a:xfrm>
          <a:prstGeom prst="line">
            <a:avLst/>
          </a:prstGeom>
          <a:noFill/>
          <a:ln w="10160">
            <a:solidFill>
              <a:srgbClr val="5B677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40196" y="5111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612380" y="4919472"/>
            <a:ext cx="914" cy="109728"/>
          </a:xfrm>
          <a:prstGeom prst="line">
            <a:avLst/>
          </a:prstGeom>
          <a:noFill/>
          <a:ln w="10160">
            <a:solidFill>
              <a:srgbClr val="5B677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38060" y="5111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810244" y="4919472"/>
            <a:ext cx="914" cy="109728"/>
          </a:xfrm>
          <a:prstGeom prst="line">
            <a:avLst/>
          </a:prstGeom>
          <a:noFill/>
          <a:ln w="10160">
            <a:solidFill>
              <a:srgbClr val="5B677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535924" y="5111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008108" y="4919472"/>
            <a:ext cx="914" cy="109728"/>
          </a:xfrm>
          <a:prstGeom prst="line">
            <a:avLst/>
          </a:prstGeom>
          <a:noFill/>
          <a:ln w="10160">
            <a:solidFill>
              <a:srgbClr val="5B677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733788" y="5111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617720" y="5577840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多样性系数的估计与</a:t>
            </a:r>
            <a:r>
              <a:rPr lang="en-US" sz="19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95% </a:t>
            </a:r>
            <a:r>
              <a:rPr lang="en-US" sz="19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置信区间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822960" y="6089904"/>
            <a:ext cx="10607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</a:t>
            </a:r>
            <a:r>
              <a:rPr lang="en-US" sz="16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N=120</a:t>
            </a:r>
            <a:r>
              <a:rPr lang="en-US" sz="16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；去掉</a:t>
            </a:r>
            <a:r>
              <a:rPr lang="en-US" sz="16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Erdős </a:t>
            </a:r>
            <a:r>
              <a:rPr lang="en-US" sz="16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</a:t>
            </a:r>
            <a:r>
              <a:rPr lang="en-US" sz="16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n=80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二、完整解交换后，多模型</a:t>
            </a:r>
            <a:r>
              <a:rPr lang="en-US" sz="30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Debate </a:t>
            </a: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28: visible raw scores, lower is better on both tasks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68096" y="148132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可见分数，越低越好</a:t>
            </a: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r>
              <a:rPr lang="en-US" sz="18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蓝：同模型</a:t>
            </a: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r>
              <a:rPr lang="en-US" sz="18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红：多模型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19933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Bases</a:t>
            </a:r>
            <a:endParaRPr lang="en-US" sz="2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615184"/>
          <a:ext cx="5212080" cy="2715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777240" y="5486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965960" y="5431536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B7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889 → 72 → 274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6400800" y="19933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Erdős</a:t>
            </a:r>
            <a:endParaRPr lang="en-US" sz="25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172200" y="2615184"/>
          <a:ext cx="5212080" cy="2715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8"/>
          <p:cNvSpPr/>
          <p:nvPr/>
        </p:nvSpPr>
        <p:spPr>
          <a:xfrm>
            <a:off x="6263640" y="5486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7452360" y="5431536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B7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 → 0.3 → 0.38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822960" y="60899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</a:t>
            </a:r>
            <a:r>
              <a:rPr lang="en-US" sz="18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独立提案</a:t>
            </a: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R2 </a:t>
            </a:r>
            <a:r>
              <a:rPr lang="en-US" sz="18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交换批评</a:t>
            </a: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R3 </a:t>
            </a:r>
            <a:r>
              <a:rPr lang="en-US" sz="18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暴露完整解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二、合成常复制最佳提案，而非重组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16: synthesis output classification on seven tasks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664208"/>
          <a:ext cx="7543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8641080" y="2350008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B7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8641080" y="3456432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复制最佳提案的比例</a:t>
            </a:r>
            <a:r>
              <a:rPr lang="en-US" sz="23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300" b="1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达到</a:t>
            </a:r>
            <a:r>
              <a:rPr lang="en-US" sz="2300" b="1" dirty="0">
                <a:solidFill>
                  <a:srgbClr val="18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80% </a:t>
            </a:r>
            <a:r>
              <a:rPr lang="en-US" sz="2300" b="1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的任务数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8641080" y="5166360"/>
            <a:ext cx="2743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复制比例按任务统计，</a:t>
            </a: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8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不等于所有协议的退化率。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三、错误是否好定位，改变批评收益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3: Debate feasibility, n=10 per condition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4672" y="1417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可行率（</a:t>
            </a: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r>
              <a:rPr lang="en-US" sz="18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），每格</a:t>
            </a:r>
            <a:r>
              <a:rPr lang="en-US" sz="18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n=10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04088" y="1828800"/>
          <a:ext cx="6675120" cy="4050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7818120" y="1938528"/>
            <a:ext cx="3611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Knapsack</a:t>
            </a:r>
            <a:r>
              <a:rPr lang="en-US" sz="23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2300" b="1" dirty="0">
                <a:solidFill>
                  <a:srgbClr val="26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3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超重错误易定位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7818120" y="3364992"/>
            <a:ext cx="3611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B7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3AP-Free</a:t>
            </a:r>
            <a:r>
              <a:rPr lang="en-US" sz="2300" b="1" dirty="0">
                <a:solidFill>
                  <a:srgbClr val="B7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2300" b="1" dirty="0">
                <a:solidFill>
                  <a:srgbClr val="B7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300" b="1" dirty="0">
                <a:solidFill>
                  <a:srgbClr val="B7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违规三元组难定位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7818120" y="4910328"/>
            <a:ext cx="3611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批评能否指向一个可修复的错误？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77240" y="6044184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另：</a:t>
            </a:r>
            <a:r>
              <a:rPr lang="en-US" sz="15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MAgICoRe / Gemini </a:t>
            </a:r>
            <a:r>
              <a:rPr lang="en-US" sz="15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</a:t>
            </a:r>
            <a:r>
              <a:rPr lang="en-US" sz="15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Erdős</a:t>
            </a:r>
            <a:r>
              <a:rPr lang="en-US" sz="15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5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Poly </a:t>
            </a:r>
            <a:r>
              <a:rPr lang="en-US" sz="15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首轮退化</a:t>
            </a:r>
            <a:r>
              <a:rPr lang="en-US" sz="15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17/30</a:t>
            </a:r>
            <a:r>
              <a:rPr lang="en-US" sz="15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（表</a:t>
            </a:r>
            <a:r>
              <a:rPr lang="en-US" sz="15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</a:t>
            </a:r>
            <a:r>
              <a:rPr lang="en-US" sz="15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三、证据范围与推广边界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5: limitations and 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" y="1856232"/>
          <a:ext cx="10789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4480560"/>
              </a:tblGrid>
              <a:tr h="704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265F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265F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265F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需要谨慎的推广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主基准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 个任务，每格 5 seeds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开放式写作、规划、对话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多样性因子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个任务，N=120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去掉 Erdős 后 CI 跨零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可行性对照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个任务，每格 n=10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其他错误类型与复杂约束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低带宽共享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论文提出的方向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825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尚未直接比较通道效果</a:t>
                      </a:r>
                      <a:endParaRPr lang="en-US" sz="2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0584" marR="100584" marT="82296" marB="82296" anchor="mid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" y="5806440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更有用的问题：在什么任务、什么时点，交换哪种信息？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总结：保留独立探索，再决定怎样交互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643737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and Appendix A: author-proposed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437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7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78308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保留差异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114800" y="17830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多个模型的价值，首先来自独立探索。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77240" y="2587752"/>
            <a:ext cx="10424160" cy="914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843784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B72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控制信息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114800" y="284378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完整解交换可能使不同策略过早收敛。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777240" y="3648456"/>
            <a:ext cx="10424160" cy="914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90448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65F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针对错误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114800" y="390448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具体、可修复的违例更适合批评。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77240" y="5294376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825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讨论：分数、失败原因、验证摘要，哪种共享方式保留探索？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77240" y="619048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7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待验证设想：论文尚未直接比较这些共享通道。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Interaction Tax</dc:title>
  <dc:subject>A faithful reading of arXiv:2608.23541v1</dc:subject>
  <dc:creator>Paper reading</dc:creator>
  <cp:lastModifiedBy>Paper reading</cp:lastModifiedBy>
  <cp:revision>1</cp:revision>
  <dcterms:created xsi:type="dcterms:W3CDTF">2026-10-07T16:02:46Z</dcterms:created>
  <dcterms:modified xsi:type="dcterms:W3CDTF">2026-10-07T16:02:46Z</dcterms:modified>
</cp:coreProperties>
</file>