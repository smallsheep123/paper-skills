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[cover] 封面：论文原标题(+中文意译)、会议/年份、作者单位、汇报人与日期。读别人论文时汇报人与作者分开写。不要放摘要。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[toc] 提纲：与论文章节一一对应，后续每章前回显并高亮当前章。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[chapter] 章节页：章号 + 章名 + 本章要解决的问题；底部导航高亮当前章。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[figureConclusion] 图 + 结论框：导语说这页做了什么，结论框写一句含关键数字的结论。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[contributions] 创新点/成果：3–4 条，每条对应一章与发表成果。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0B4F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0"/>
            <a:ext cx="12191695" cy="73152"/>
          </a:xfrm>
          <a:prstGeom prst="rect">
            <a:avLst/>
          </a:prstGeom>
          <a:solidFill>
            <a:srgbClr val="3C7DB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【学校 · 学院】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85455" y="411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【学位论文答辩 / 开题 / 中期】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【论文 / 报告标题】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【英文题目】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617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94960" y="4617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【填写】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0" y="5074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94960" y="5074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【填写】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40480" y="5532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导师：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94960" y="5532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【填写】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40480" y="5989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94960" y="5989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【填写】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4F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C7DB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048695" y="109728"/>
            <a:ext cx="658368" cy="658368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8695" y="109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2511491" cy="329184"/>
          </a:xfrm>
          <a:prstGeom prst="homePlate">
            <a:avLst/>
          </a:prstGeom>
          <a:solidFill>
            <a:srgbClr val="3C7DBF"/>
          </a:solidFill>
          <a:ln/>
        </p:spPr>
      </p:sp>
      <p:sp>
        <p:nvSpPr>
          <p:cNvPr id="8" name="Shape 6"/>
          <p:cNvSpPr/>
          <p:nvPr/>
        </p:nvSpPr>
        <p:spPr>
          <a:xfrm>
            <a:off x="2438339" y="6528816"/>
            <a:ext cx="2511491" cy="329184"/>
          </a:xfrm>
          <a:prstGeom prst="chevron">
            <a:avLst/>
          </a:prstGeom>
          <a:solidFill>
            <a:srgbClr val="3C7DBF"/>
          </a:solidFill>
          <a:ln/>
        </p:spPr>
      </p:sp>
      <p:sp>
        <p:nvSpPr>
          <p:cNvPr id="9" name="Shape 7"/>
          <p:cNvSpPr/>
          <p:nvPr/>
        </p:nvSpPr>
        <p:spPr>
          <a:xfrm>
            <a:off x="4876678" y="6528816"/>
            <a:ext cx="2511491" cy="329184"/>
          </a:xfrm>
          <a:prstGeom prst="chevron">
            <a:avLst/>
          </a:prstGeom>
          <a:solidFill>
            <a:srgbClr val="0B4F8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017" y="6528816"/>
            <a:ext cx="2511491" cy="329184"/>
          </a:xfrm>
          <a:prstGeom prst="chevron">
            <a:avLst/>
          </a:prstGeom>
          <a:solidFill>
            <a:srgbClr val="D6E4F2"/>
          </a:solidFill>
          <a:ln/>
        </p:spPr>
      </p:sp>
      <p:sp>
        <p:nvSpPr>
          <p:cNvPr id="11" name="Shape 9"/>
          <p:cNvSpPr/>
          <p:nvPr/>
        </p:nvSpPr>
        <p:spPr>
          <a:xfrm>
            <a:off x="9753356" y="6528816"/>
            <a:ext cx="2511491" cy="329184"/>
          </a:xfrm>
          <a:prstGeom prst="chevron">
            <a:avLst/>
          </a:prstGeom>
          <a:solidFill>
            <a:srgbClr val="D6E4F2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5499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13838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177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90516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77295" y="6144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03120" y="1463040"/>
            <a:ext cx="45720" cy="4114800"/>
          </a:xfrm>
          <a:prstGeom prst="rect">
            <a:avLst/>
          </a:prstGeom>
          <a:solidFill>
            <a:srgbClr val="D6E4F2"/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1572768"/>
            <a:ext cx="411480" cy="411480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1417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【第 1 项，≤10 字】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920240" y="2395728"/>
            <a:ext cx="411480" cy="411480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2240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【第 2 项，≤10 字】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920240" y="3218688"/>
            <a:ext cx="411480" cy="411480"/>
          </a:xfrm>
          <a:prstGeom prst="ellipse">
            <a:avLst/>
          </a:prstGeom>
          <a:solidFill>
            <a:srgbClr val="D7261E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3063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D726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【第 3 项，≤10 字】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920240" y="4041648"/>
            <a:ext cx="411480" cy="411480"/>
          </a:xfrm>
          <a:prstGeom prst="ellipse">
            <a:avLst/>
          </a:prstGeom>
          <a:solidFill>
            <a:srgbClr val="0B4F8A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3886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【第 4 项，≤10 字】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920240" y="4864608"/>
            <a:ext cx="411480" cy="411480"/>
          </a:xfrm>
          <a:prstGeom prst="ellipse">
            <a:avLst/>
          </a:prstGeom>
          <a:solidFill>
            <a:srgbClr val="0B4F8A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4709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【第 5 项，≤10 字】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B4F8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1945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第X章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0" y="23774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【章节名】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0" y="3291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【副标题：这一部分要回答的问题】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2511491" cy="329184"/>
          </a:xfrm>
          <a:prstGeom prst="homePlate">
            <a:avLst/>
          </a:prstGeom>
          <a:solidFill>
            <a:srgbClr val="3C7DBF"/>
          </a:solidFill>
          <a:ln/>
        </p:spPr>
      </p:sp>
      <p:sp>
        <p:nvSpPr>
          <p:cNvPr id="7" name="Shape 5"/>
          <p:cNvSpPr/>
          <p:nvPr/>
        </p:nvSpPr>
        <p:spPr>
          <a:xfrm>
            <a:off x="2438339" y="6528816"/>
            <a:ext cx="2511491" cy="329184"/>
          </a:xfrm>
          <a:prstGeom prst="chevron">
            <a:avLst/>
          </a:prstGeom>
          <a:solidFill>
            <a:srgbClr val="3C7DBF"/>
          </a:solidFill>
          <a:ln/>
        </p:spPr>
      </p:sp>
      <p:sp>
        <p:nvSpPr>
          <p:cNvPr id="8" name="Shape 6"/>
          <p:cNvSpPr/>
          <p:nvPr/>
        </p:nvSpPr>
        <p:spPr>
          <a:xfrm>
            <a:off x="4876678" y="6528816"/>
            <a:ext cx="2511491" cy="329184"/>
          </a:xfrm>
          <a:prstGeom prst="chevron">
            <a:avLst/>
          </a:prstGeom>
          <a:solidFill>
            <a:srgbClr val="0B4F8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017" y="6528816"/>
            <a:ext cx="2511491" cy="329184"/>
          </a:xfrm>
          <a:prstGeom prst="chevron">
            <a:avLst/>
          </a:prstGeom>
          <a:solidFill>
            <a:srgbClr val="D6E4F2"/>
          </a:solidFill>
          <a:ln/>
        </p:spPr>
      </p:sp>
      <p:sp>
        <p:nvSpPr>
          <p:cNvPr id="10" name="Shape 8"/>
          <p:cNvSpPr/>
          <p:nvPr/>
        </p:nvSpPr>
        <p:spPr>
          <a:xfrm>
            <a:off x="9753356" y="6528816"/>
            <a:ext cx="2511491" cy="329184"/>
          </a:xfrm>
          <a:prstGeom prst="chevron">
            <a:avLst/>
          </a:prstGeom>
          <a:solidFill>
            <a:srgbClr val="D6E4F2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75499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13838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2177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90516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4F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C7DB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【结论式标题 + </a:t>
            </a:r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D726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048695" y="109728"/>
            <a:ext cx="658368" cy="658368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8695" y="109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2511491" cy="329184"/>
          </a:xfrm>
          <a:prstGeom prst="homePlate">
            <a:avLst/>
          </a:prstGeom>
          <a:solidFill>
            <a:srgbClr val="3C7DBF"/>
          </a:solidFill>
          <a:ln/>
        </p:spPr>
      </p:sp>
      <p:sp>
        <p:nvSpPr>
          <p:cNvPr id="8" name="Shape 6"/>
          <p:cNvSpPr/>
          <p:nvPr/>
        </p:nvSpPr>
        <p:spPr>
          <a:xfrm>
            <a:off x="2438339" y="6528816"/>
            <a:ext cx="2511491" cy="329184"/>
          </a:xfrm>
          <a:prstGeom prst="chevron">
            <a:avLst/>
          </a:prstGeom>
          <a:solidFill>
            <a:srgbClr val="3C7DBF"/>
          </a:solidFill>
          <a:ln/>
        </p:spPr>
      </p:sp>
      <p:sp>
        <p:nvSpPr>
          <p:cNvPr id="9" name="Shape 7"/>
          <p:cNvSpPr/>
          <p:nvPr/>
        </p:nvSpPr>
        <p:spPr>
          <a:xfrm>
            <a:off x="4876678" y="6528816"/>
            <a:ext cx="2511491" cy="329184"/>
          </a:xfrm>
          <a:prstGeom prst="chevron">
            <a:avLst/>
          </a:prstGeom>
          <a:solidFill>
            <a:srgbClr val="0B4F8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017" y="6528816"/>
            <a:ext cx="2511491" cy="329184"/>
          </a:xfrm>
          <a:prstGeom prst="chevron">
            <a:avLst/>
          </a:prstGeom>
          <a:solidFill>
            <a:srgbClr val="D6E4F2"/>
          </a:solidFill>
          <a:ln/>
        </p:spPr>
      </p:sp>
      <p:sp>
        <p:nvSpPr>
          <p:cNvPr id="11" name="Shape 9"/>
          <p:cNvSpPr/>
          <p:nvPr/>
        </p:nvSpPr>
        <p:spPr>
          <a:xfrm>
            <a:off x="9753356" y="6528816"/>
            <a:ext cx="2511491" cy="329184"/>
          </a:xfrm>
          <a:prstGeom prst="chevron">
            <a:avLst/>
          </a:prstGeom>
          <a:solidFill>
            <a:srgbClr val="D6E4F2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5499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13838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177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90516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77295" y="6144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【导语：这页做了什么，≤40 字】</a:t>
            </a:r>
            <a:endParaRPr lang="en-US" sz="1700" dirty="0"/>
          </a:p>
        </p:txBody>
      </p:sp>
      <p:pic>
        <p:nvPicPr>
          <p:cNvPr id="19" name="Image 0" descr="/workspace/work/ps/repo/paper-ppt/styles/_sample-figures/fig-metho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691640"/>
            <a:ext cx="9966960" cy="27432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1097280" y="4572000"/>
            <a:ext cx="996696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4F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45720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【结论：≤30 字，含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26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关键数字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】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4F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3C7DB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主要创新点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048695" y="109728"/>
            <a:ext cx="658368" cy="658368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8695" y="1097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6528816"/>
            <a:ext cx="2511491" cy="329184"/>
          </a:xfrm>
          <a:prstGeom prst="homePlate">
            <a:avLst/>
          </a:prstGeom>
          <a:solidFill>
            <a:srgbClr val="3C7DBF"/>
          </a:solidFill>
          <a:ln/>
        </p:spPr>
      </p:sp>
      <p:sp>
        <p:nvSpPr>
          <p:cNvPr id="8" name="Shape 6"/>
          <p:cNvSpPr/>
          <p:nvPr/>
        </p:nvSpPr>
        <p:spPr>
          <a:xfrm>
            <a:off x="2438339" y="6528816"/>
            <a:ext cx="2511491" cy="329184"/>
          </a:xfrm>
          <a:prstGeom prst="chevron">
            <a:avLst/>
          </a:prstGeom>
          <a:solidFill>
            <a:srgbClr val="3C7DBF"/>
          </a:solidFill>
          <a:ln/>
        </p:spPr>
      </p:sp>
      <p:sp>
        <p:nvSpPr>
          <p:cNvPr id="9" name="Shape 7"/>
          <p:cNvSpPr/>
          <p:nvPr/>
        </p:nvSpPr>
        <p:spPr>
          <a:xfrm>
            <a:off x="4876678" y="6528816"/>
            <a:ext cx="2511491" cy="329184"/>
          </a:xfrm>
          <a:prstGeom prst="chevron">
            <a:avLst/>
          </a:prstGeom>
          <a:solidFill>
            <a:srgbClr val="3C7DB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017" y="6528816"/>
            <a:ext cx="2511491" cy="329184"/>
          </a:xfrm>
          <a:prstGeom prst="chevron">
            <a:avLst/>
          </a:prstGeom>
          <a:solidFill>
            <a:srgbClr val="3C7DBF"/>
          </a:solidFill>
          <a:ln/>
        </p:spPr>
      </p:sp>
      <p:sp>
        <p:nvSpPr>
          <p:cNvPr id="11" name="Shape 9"/>
          <p:cNvSpPr/>
          <p:nvPr/>
        </p:nvSpPr>
        <p:spPr>
          <a:xfrm>
            <a:off x="9753356" y="6528816"/>
            <a:ext cx="2511491" cy="329184"/>
          </a:xfrm>
          <a:prstGeom prst="chevron">
            <a:avLst/>
          </a:prstGeom>
          <a:solidFill>
            <a:srgbClr val="0B4F8A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5499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13838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177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90516" y="6528816"/>
            <a:ext cx="22554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77295" y="6144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A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1371600"/>
            <a:ext cx="3454298" cy="640080"/>
          </a:xfrm>
          <a:prstGeom prst="rect">
            <a:avLst/>
          </a:prstGeom>
          <a:solidFill>
            <a:srgbClr val="0B4F8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13716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创新点一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2011680"/>
            <a:ext cx="3454298" cy="265176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148840"/>
            <a:ext cx="308853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0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【要点 1】</a:t>
            </a:r>
            <a:endParaRPr lang="en-US" sz="1800" dirty="0"/>
          </a:p>
          <a:p>
            <a:pPr algn="l" indent="0" mar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5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【一句话解释】</a:t>
            </a:r>
            <a:endParaRPr lang="en-US" sz="1800" dirty="0"/>
          </a:p>
          <a:p>
            <a:pPr algn="l" indent="0" mar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[对应成果]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368698" y="1371600"/>
            <a:ext cx="3454298" cy="640080"/>
          </a:xfrm>
          <a:prstGeom prst="rect">
            <a:avLst/>
          </a:prstGeom>
          <a:solidFill>
            <a:srgbClr val="0B4F8A"/>
          </a:solidFill>
          <a:ln/>
        </p:spPr>
      </p:sp>
      <p:sp>
        <p:nvSpPr>
          <p:cNvPr id="23" name="Text 21"/>
          <p:cNvSpPr/>
          <p:nvPr/>
        </p:nvSpPr>
        <p:spPr>
          <a:xfrm>
            <a:off x="4368698" y="13716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创新点二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368698" y="2011680"/>
            <a:ext cx="3454298" cy="265176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551578" y="2148840"/>
            <a:ext cx="308853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0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【要点 2】</a:t>
            </a:r>
            <a:endParaRPr lang="en-US" sz="1800" dirty="0"/>
          </a:p>
          <a:p>
            <a:pPr algn="l" indent="0" mar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5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【一句话解释】</a:t>
            </a:r>
            <a:endParaRPr lang="en-US" sz="1800" dirty="0"/>
          </a:p>
          <a:p>
            <a:pPr algn="l" indent="0" mar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[对应成果]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188757" y="1371600"/>
            <a:ext cx="3454298" cy="640080"/>
          </a:xfrm>
          <a:prstGeom prst="rect">
            <a:avLst/>
          </a:prstGeom>
          <a:solidFill>
            <a:srgbClr val="0B4F8A"/>
          </a:solidFill>
          <a:ln/>
        </p:spPr>
      </p:sp>
      <p:sp>
        <p:nvSpPr>
          <p:cNvPr id="27" name="Text 25"/>
          <p:cNvSpPr/>
          <p:nvPr/>
        </p:nvSpPr>
        <p:spPr>
          <a:xfrm>
            <a:off x="8188757" y="1371600"/>
            <a:ext cx="345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创新点三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188757" y="2011680"/>
            <a:ext cx="3454298" cy="2651760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8371637" y="2148840"/>
            <a:ext cx="308853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0B4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【要点 3】</a:t>
            </a:r>
            <a:endParaRPr lang="en-US" sz="1800" dirty="0"/>
          </a:p>
          <a:p>
            <a:pPr algn="l" indent="0" mar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5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【一句话解释】</a:t>
            </a:r>
            <a:endParaRPr lang="en-US" sz="1800" dirty="0"/>
          </a:p>
          <a:p>
            <a:pPr algn="l" indent="0" mar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[对应成果]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 CN · 国内答辩 / 正式报告 template</dc:title>
  <dc:subject>PptxGenJS Presentation</dc:subject>
  <dc:creator>PptxGenJS</dc:creator>
  <cp:lastModifiedBy>PptxGenJS</cp:lastModifiedBy>
  <cp:revision>1</cp:revision>
  <dcterms:created xsi:type="dcterms:W3CDTF">2026-10-08T11:42:03Z</dcterms:created>
  <dcterms:modified xsi:type="dcterms:W3CDTF">2026-10-08T11:42:03Z</dcterms:modified>
</cp:coreProperties>
</file>